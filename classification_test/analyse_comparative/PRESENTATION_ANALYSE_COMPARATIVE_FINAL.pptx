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4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COMPARATIVE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3400" dirty="0"/>
          </a:p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avec contexte  vs  sans contexte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13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LLM  ·  9 questions  ·  8 987 phrases  ·  7 axes d'analyse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329184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3291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Notoriété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29184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291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3291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· </a:t>
            </a:r>
            <a:r>
              <a:rPr lang="en-US" sz="9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Notoriété</a:t>
            </a: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Obligation · Description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B2B - étude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méthodologique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comparative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 de </a:t>
            </a:r>
            <a:r>
              <a:rPr lang="en-US" sz="2200" b="1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l’étude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deux architectures de classification LLM sur un corpus B2B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AVEC CONTEXTE (CTX)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appel LLM = 1 phrase + 1 question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paragraphe entier est fourni comme contexte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désambiguite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pronoms et anaphores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adapte au contexte paragraphe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MAX_WORKERS = 2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parallèle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SANS CONTEXTE (NOC)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appel LLM = 1 phrase + 1 question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phrase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evaluée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totalement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information contextuelle fournie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simplifie sans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contextuelle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MAX_WORKERS = 5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parallèle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24528" y="2331720"/>
            <a:ext cx="6858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: documents commerciaux B2B · 5 modeles LLM via OpenRouter · 9 questions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&amp; </a:t>
            </a:r>
            <a:r>
              <a:rPr lang="en-US" sz="2200" b="1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8 987 phrases communes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analysées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les 5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9339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69848"/>
            <a:ext cx="1810512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8 987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02336" y="1602029"/>
            <a:ext cx="181051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873606"/>
            <a:ext cx="1810512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comparative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199339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960120"/>
            <a:ext cx="54864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069848"/>
            <a:ext cx="1810512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78608" y="1602029"/>
            <a:ext cx="181051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 LLM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8608" y="1873606"/>
            <a:ext cx="1810512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Gemma·GPT·Llama·Mistral·Qwen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960120"/>
            <a:ext cx="199339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960120"/>
            <a:ext cx="54864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69848"/>
            <a:ext cx="1810512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1602029"/>
            <a:ext cx="181051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873606"/>
            <a:ext cx="1810512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ROI·3 NOT·3 OBL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960120"/>
            <a:ext cx="199339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960120"/>
            <a:ext cx="54864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1069848"/>
            <a:ext cx="1810512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80 883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31152" y="1602029"/>
            <a:ext cx="181051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31152" y="1873606"/>
            <a:ext cx="1810512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phrases×questions×2 versions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377440"/>
            <a:ext cx="8595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2450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DES 5 MODELES LLM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281635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2779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gemma-3-27b-it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" y="29626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6072" y="3127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+9.8% - Sur-classeur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21408" y="281635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779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0" y="29626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286000" y="3127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reférence</a:t>
            </a: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Neutre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31336" y="281635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95928" y="2779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95928" y="29626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95928" y="3127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- </a:t>
            </a:r>
            <a:r>
              <a:rPr lang="en-US" sz="8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</a:t>
            </a: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NOT_2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41264" y="2816352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05856" y="2779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mistral-nemo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05856" y="29626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705856" y="3127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Sous-classeur - </a:t>
            </a:r>
            <a:r>
              <a:rPr lang="en-US" sz="8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Bénéficie</a:t>
            </a: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CTX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251192" y="281635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15784" y="2779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qwen3-8b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15784" y="29626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15784" y="3127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x40 tokens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553712"/>
            <a:ext cx="8595360" cy="292608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5628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</a:t>
            </a: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d’agrégation</a:t>
            </a: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vote majoritaire (&gt;=3 </a:t>
            </a: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5) · </a:t>
            </a: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</a:t>
            </a: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label : ROI &gt; Obligation &gt; </a:t>
            </a:r>
            <a:r>
              <a:rPr lang="en-US" sz="9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Notoriété</a:t>
            </a: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Description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2D3E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54864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Global entre les deux versions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 · Taux d'accord · Analyse par famille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1 - Cohen's Kappa &amp; Taux d'accord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global = 0.686 · Taux d'accord global = 96.04%</a:t>
            </a:r>
            <a:endParaRPr lang="en-US" sz="1100" dirty="0"/>
          </a:p>
        </p:txBody>
      </p:sp>
      <p:pic>
        <p:nvPicPr>
          <p:cNvPr id="5" name="Image 0" descr="f:\Jihene\business_value_classification\Business-Value-Knowledge-Graph\classification_test\analyse_comparative\résultats_analyse_comparative\axe1_kappa_par_ques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859536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:   la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plus sensible au context (Kappa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0.611), la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OBL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plus stable (Kappa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0.757), ROI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(roi_3 à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2 - Distribution des Flips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72.9% des phrases ne flippent jamais · 27.1% changent selon la version</a:t>
            </a:r>
            <a:endParaRPr lang="en-US" sz="1100" dirty="0"/>
          </a:p>
        </p:txBody>
      </p:sp>
      <p:pic>
        <p:nvPicPr>
          <p:cNvPr id="5" name="Image 0" descr="f:\Jihene\business_value_classification\Business-Value-Knowledge-Graph\classification_test\analyse_comparative\résultats_analyse_comparative\axe2_distribution_fl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520" y="914400"/>
            <a:ext cx="4114800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6650" y="4006850"/>
            <a:ext cx="8615680" cy="726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endParaRPr lang="fr-FR" sz="1100" b="1" i="0" u="none" strike="noStrike" dirty="0">
              <a:solidFill>
                <a:srgbClr val="000000"/>
              </a:solidFill>
              <a:effectLst/>
              <a:latin typeface="+mj-lt"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fr-FR" sz="1100" b="1" i="0" u="none" strike="noStrike" dirty="0">
                <a:solidFill>
                  <a:srgbClr val="000000"/>
                </a:solidFill>
                <a:effectLst/>
                <a:latin typeface="+mj-lt"/>
              </a:rPr>
              <a:t>27.1% des phrases changent de réponse sur au moins une question selon qu'on utilise ou non le contexte.</a:t>
            </a: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fr-FR" sz="1100" b="1" dirty="0">
                <a:solidFill>
                  <a:srgbClr val="000000"/>
                </a:solidFill>
                <a:latin typeface="+mj-lt"/>
              </a:rPr>
              <a:t>=&gt; Ce sont les phrases 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+mj-lt"/>
              </a:rPr>
              <a:t>ambiguës </a:t>
            </a:r>
            <a:r>
              <a:rPr lang="fr-FR" sz="1100" b="1" dirty="0">
                <a:solidFill>
                  <a:srgbClr val="000000"/>
                </a:solidFill>
                <a:latin typeface="+mj-lt"/>
              </a:rPr>
              <a:t> du corpus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+mj-lt"/>
              </a:rPr>
              <a:t> </a:t>
            </a:r>
          </a:p>
          <a:p>
            <a:br>
              <a:rPr lang="fr-FR" sz="1100" dirty="0">
                <a:latin typeface="+mj-lt"/>
              </a:rPr>
            </a:br>
            <a:endParaRPr lang="en-US" sz="110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2 - Taux de Flip par Question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sur-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systématiquement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(100% des flips direction NOC+)</a:t>
            </a:r>
            <a:endParaRPr lang="en-US" sz="1100" dirty="0"/>
          </a:p>
        </p:txBody>
      </p:sp>
      <p:pic>
        <p:nvPicPr>
          <p:cNvPr id="5" name="Image 0" descr="f:\Jihene\business_value_classification\Business-Value-Knowledge-Graph\classification_test\analyse_comparative\résultats_analyse_comparative\axe2_flips_par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85953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615180"/>
            <a:ext cx="841248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fr-FR" sz="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Sans contexte, le modèle sur-détecte les bénéfices dans les phrases</a:t>
            </a:r>
            <a:r>
              <a:rPr lang="fr-FR" sz="800" b="1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fr-FR" sz="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Les questions NOT sont les plus vulnérables à l'absence de contexte.</a:t>
            </a:r>
            <a:endParaRPr lang="fr-FR" sz="800" b="0" dirty="0">
              <a:effectLst/>
            </a:endParaRPr>
          </a:p>
          <a:p>
            <a:br>
              <a:rPr lang="fr-FR" sz="800" dirty="0"/>
            </a:b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2D3E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54864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Inter-</a:t>
            </a:r>
            <a:r>
              <a:rPr lang="en-US" sz="3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Version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Entropie des votes · CTX harmonise NOT · NOC gagne sur ROI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3 - Accord Inter-Modeles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les 5 modèles sont-ils plus cohérents entre eux quand ils ont le contexte ?</a:t>
            </a:r>
            <a:endParaRPr lang="en-US" sz="900" dirty="0"/>
          </a:p>
        </p:txBody>
      </p:sp>
      <p:pic>
        <p:nvPicPr>
          <p:cNvPr id="5" name="Image 0" descr="f:\Jihene\business_value_classification\Business-Value-Knowledge-Graph\classification_test\analyse_comparative\résultats_analyse_comparative\axe3_accord_intermode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86968"/>
            <a:ext cx="7790180" cy="3563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améliore le consensus sur NOT et OBL, mais le dégrade sur ROI.</a:t>
            </a:r>
            <a:endParaRPr lang="en-US" sz="8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L'entropie mesure la dispersion des votes individuels (0 = tous d'accord, 1 = désaccord maximal)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2D3E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54864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des Questions par Sensibilite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4 metriques · Score composite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4 - Heatmap des Metriques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x Flip% x Accord inter-modeles CTX &amp; NOC</a:t>
            </a:r>
            <a:endParaRPr lang="en-US" sz="1100" dirty="0"/>
          </a:p>
        </p:txBody>
      </p:sp>
      <p:pic>
        <p:nvPicPr>
          <p:cNvPr id="5" name="Image 0" descr="f:\Jihene\business_value_classification\Business-Value-Knowledge-Graph\classification_test\analyse_comparative\résultats_analyse_comparative\axe4_heatmap_ques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886968"/>
            <a:ext cx="7625080" cy="34880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4960" y="4485089"/>
            <a:ext cx="8412480" cy="645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zones visuelles : rouge (NOT critique) - intermediaire (roi_3) - verte (stable)</a:t>
            </a:r>
          </a:p>
          <a:p>
            <a:pPr marL="0" indent="0">
              <a:buNone/>
            </a:pPr>
            <a:r>
              <a:rPr lang="fr-FR" sz="800" dirty="0"/>
              <a:t>L'Axe 4 permet de formuler une règle de classification hybride concrète :</a:t>
            </a:r>
          </a:p>
          <a:p>
            <a:pPr marL="0" indent="0">
              <a:buNone/>
            </a:pPr>
            <a:r>
              <a:rPr lang="fr-FR" sz="800" dirty="0"/>
              <a:t>Utiliser CTX obligatoirement pour : notoriete_1, notoriete_2, notoriete_3, roi_3 </a:t>
            </a:r>
          </a:p>
          <a:p>
            <a:pPr marL="0" indent="0">
              <a:buNone/>
            </a:pPr>
            <a:r>
              <a:rPr lang="fr-FR" sz="800" dirty="0"/>
              <a:t>Utiliser NOC suffisant pour : roi_1, roi_2, obl_1, obl_2, obl_3</a:t>
            </a:r>
          </a:p>
          <a:p>
            <a:pPr marL="0" indent="0">
              <a:buNone/>
            </a:pPr>
            <a:r>
              <a:rPr lang="fr-FR" sz="800" dirty="0"/>
              <a:t>Cette règle permettrait de réduire le surcoût du contexte </a:t>
            </a:r>
          </a:p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2D3E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54864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Caracteristiques des Phrases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· Pronoms · Titres · Matrice de changement de label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10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5 - Caracteristiques des Phrases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3179" y="401574"/>
            <a:ext cx="788025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monotone · Pronoms +65% flips · Titres insensibles</a:t>
            </a:r>
            <a:endParaRPr lang="en-US" sz="1100" dirty="0"/>
          </a:p>
        </p:txBody>
      </p:sp>
      <p:pic>
        <p:nvPicPr>
          <p:cNvPr id="5" name="Image 0" descr="f:\Jihene\business_value_classification\Business-Value-Knowledge-Graph\classification_test\analyse_comparative\résultats_analyse_comparative\axe5_caracteristiq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31" y="666750"/>
            <a:ext cx="7347145" cy="3360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279900"/>
            <a:ext cx="841248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1 — Flip rate par longueur : 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résultat est contre-intuitif par rapport à l'hypothèse initiale: les phrases courtes flipperaient plus (car plus ambiguës). 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réalité, c'est l'inverse : les phrases longues contiennent plus d'informations susceptibles d'être réinterprétées quand le contexte du paragraphe est fourni.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2 — Pronoms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phrases contenant des pronoms anaphoriques ("il", "cela", "cette solution", "nos", "leur", etc.) flippent 65% plus souvent que les phrases  -&gt; Ce résultat est une validation de l'utilité du contexte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3 — Titres de section vs phrases de corps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titres de section flippent 69% moins souvent que les phrases de corps (16.93% vs 28.71%). Cela s'explique par leur nature : un titre est auto-suffisant, sa classification ne dépend pas du paragraphe qui suit. Le contexte ne lui apporte presque rien.</a:t>
            </a:r>
          </a:p>
          <a:p>
            <a:pPr marL="0" indent="0">
              <a:buNone/>
            </a:pPr>
            <a:endParaRPr lang="fr-FR" sz="8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2D3E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54864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Couts, Stabilite &amp; Scalabilite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 +83.6% · Qwen3-8b = 51% du cout · Distribution des labels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6 - Comparaison des Couts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CTX/NOC = 1.836x + Distribution des labels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400550"/>
            <a:ext cx="8229600" cy="469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94A3B8"/>
                </a:solidFill>
              </a:rPr>
              <a:t>Le contexte coûte 10.82 € de plus sur l'ensemble du corpus. La durée augmente de 61% — chaque phrase prend 33 secondes supplémentaires en version CTX</a:t>
            </a:r>
          </a:p>
          <a:p>
            <a:pPr marL="0" indent="0">
              <a:buNone/>
            </a:pPr>
            <a:r>
              <a:rPr lang="fr-FR" sz="1200" dirty="0">
                <a:solidFill>
                  <a:srgbClr val="94A3B8"/>
                </a:solidFill>
              </a:rPr>
              <a:t>le surcoût CTX vient exclusivement de la longueur du prompt (paragraphe additionnel).</a:t>
            </a:r>
          </a:p>
        </p:txBody>
      </p:sp>
      <p:pic>
        <p:nvPicPr>
          <p:cNvPr id="7" name="Image 6" descr="Une image contenant texte, diagramme, capture d’écran, Tracé&#10;&#10;Description générée automatiquement">
            <a:extLst>
              <a:ext uri="{FF2B5EF4-FFF2-40B4-BE49-F238E27FC236}">
                <a16:creationId xmlns:a16="http://schemas.microsoft.com/office/drawing/2014/main" id="{CE6EB435-9682-4514-8796-012842842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47318"/>
            <a:ext cx="8686800" cy="26672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2D3E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54864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Individual des Modeles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net · Accord consensus · Profil par modele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7 - Accord Consensus &amp; Biais Individuel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net = Diverge+ - Diverge-</a:t>
            </a:r>
            <a:endParaRPr lang="en-US" sz="1100" dirty="0"/>
          </a:p>
        </p:txBody>
      </p:sp>
      <p:pic>
        <p:nvPicPr>
          <p:cNvPr id="5" name="Image 0" descr="f:\Jihene\business_value_classification\Business-Value-Knowledge-Graph\classification_test\analyse_comparative\résultats_analyse_comparative\axe7_mode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110" y="877824"/>
            <a:ext cx="6621780" cy="3029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4960" y="3865118"/>
            <a:ext cx="8412480" cy="181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Gemma-3-27b-it — Le sur-classeur structurel, insensible au contexte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fr-FR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sur-classe</a:t>
            </a: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massivement dans les deux versions, avec une asymétrie totale. Il dit "oui" bien plus que le consensus mais presque jamais "non" quand le consensus dit "oui".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— Le modèle de référence, le plus sensible au contexte  c'est le modèle le plus équilibré et celui qui bénéficie le plus du contexte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</a:t>
            </a:r>
            <a:r>
              <a:rPr lang="fr-FR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</a:t>
            </a: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est le seul modèle à biais systématiquement négatif — il dit "non" plus souvent que le consensus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Qwen3-8b le plus contre-intuitif : son biais change de signe selon la version.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Llama-3.3-70b-instruct — Le modèle le plus stable, neutre sur les deux versions</a:t>
            </a:r>
          </a:p>
          <a:p>
            <a:pPr marL="0" indent="0">
              <a:buNone/>
            </a:pPr>
            <a:endParaRPr lang="fr-FR" sz="8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sz="8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endParaRPr lang="fr-FR" sz="8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sz="8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FINALE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Hybride Optimisee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2926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43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NOT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 obligatoire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26060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notoriete_1,2,3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&lt; 0.63 · Flip 1.6-10.4%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 harmonise les modeles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43000"/>
            <a:ext cx="2788920" cy="2926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143000"/>
            <a:ext cx="27889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143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ROI (roi_3)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 preferrable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28416" y="1920240"/>
            <a:ext cx="26060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0.639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rate 4.23%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Surtout pronoms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143000"/>
            <a:ext cx="2788920" cy="2926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143000"/>
            <a:ext cx="27889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143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1-2 + OBL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36208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suffisant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2784" y="1920240"/>
            <a:ext cx="26060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&gt; 0.72 · Flip &lt; 3%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appels economises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IM equivalent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56285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</a:t>
            </a: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phrase : CTX obligatoire si pronoms anaphoriques OU longueur &gt; 25 mots OU question NOT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1125</Words>
  <Application>Microsoft Office PowerPoint</Application>
  <PresentationFormat>Affichage à l'écran (16:9)</PresentationFormat>
  <Paragraphs>161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Comparative - Classification CTX vs NOC</dc:title>
  <dc:subject>PptxGenJS Presentation</dc:subject>
  <dc:creator>Jihene Guesmi</dc:creator>
  <cp:lastModifiedBy>NISRINE RAIR</cp:lastModifiedBy>
  <cp:revision>2</cp:revision>
  <dcterms:created xsi:type="dcterms:W3CDTF">2026-05-26T13:53:09Z</dcterms:created>
  <dcterms:modified xsi:type="dcterms:W3CDTF">2026-05-26T14:37:17Z</dcterms:modified>
</cp:coreProperties>
</file>